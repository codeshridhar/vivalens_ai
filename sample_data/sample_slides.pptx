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Greet the audience, state the scope: unit 2 of the AI syllabus, focused on A* search and why the heuristic function matters.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four sections quickly, about thirty seconds.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audience how many nodes a blind search would expand on a twenty-deep tree before you reveal the answer.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Write f(n) = g(n) + h(n) on the board and define each term.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that A* expands far fewer nodes because the heuristic guides the search towards the goal.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mentioning that the choice of heuristic is the real engineering problem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Summarise the three points and invite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Heuristic Search in Artificial Intelligence</a:t>
            </a:r>
          </a:p>
        </p:txBody>
      </p:sp>
      <p:sp>
        <p:nvSpPr>
          <p:cNvPr id="3" name="Subtitle 2"/>
          <p:cNvSpPr>
            <a:spLocks noGrp="1"/>
          </p:cNvSpPr>
          <p:nvPr>
            <p:ph type="subTitle" idx="1"/>
          </p:nvPr>
        </p:nvSpPr>
        <p:spPr/>
        <p:txBody>
          <a:bodyPr/>
          <a:lstStyle/>
          <a:p>
            <a:r>
              <a:t>A* Search, Informed Search and Admissible Heuristics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Content Placeholder 2"/>
          <p:cNvSpPr>
            <a:spLocks noGrp="1"/>
          </p:cNvSpPr>
          <p:nvPr>
            <p:ph idx="1"/>
          </p:nvPr>
        </p:nvSpPr>
        <p:spPr/>
        <p:txBody>
          <a:bodyPr/>
          <a:lstStyle/>
          <a:p>
            <a:r>
              <a:t>Why heuristics beat blind search</a:t>
            </a:r>
          </a:p>
          <a:p>
            <a:pPr/>
            <a:r>
              <a:t>The A* evaluation function explained</a:t>
            </a:r>
          </a:p>
          <a:p>
            <a:pPr/>
            <a:r>
              <a:t>Admissible and consistent heuristics</a:t>
            </a:r>
          </a:p>
          <a:p>
            <a:pPr/>
            <a:r>
              <a:t>Comparing A* with uniform cost search</a:t>
            </a:r>
          </a:p>
          <a:p>
            <a:pPr/>
            <a:r>
              <a:t>Limitations and practical heuristics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Heuristics Beat Blind Search</a:t>
            </a:r>
          </a:p>
        </p:txBody>
      </p:sp>
      <p:sp>
        <p:nvSpPr>
          <p:cNvPr id="3" name="Content Placeholder 2"/>
          <p:cNvSpPr>
            <a:spLocks noGrp="1"/>
          </p:cNvSpPr>
          <p:nvPr>
            <p:ph idx="1"/>
          </p:nvPr>
        </p:nvSpPr>
        <p:spPr/>
        <p:txBody>
          <a:bodyPr/>
          <a:lstStyle/>
          <a:p>
            <a:r>
              <a:t>Blind search explores every branch of the state space</a:t>
            </a:r>
          </a:p>
          <a:p>
            <a:pPr/>
            <a:r>
              <a:t>Heuristics estimate the remaining cost to reach the goal</a:t>
            </a:r>
          </a:p>
          <a:p>
            <a:pPr/>
            <a:r>
              <a:t>Informed search prunes branches that cannot lead to an optimal path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 Evaluation Function</a:t>
            </a:r>
          </a:p>
        </p:txBody>
      </p:sp>
      <p:sp>
        <p:nvSpPr>
          <p:cNvPr id="3" name="Content Placeholder 2"/>
          <p:cNvSpPr>
            <a:spLocks noGrp="1"/>
          </p:cNvSpPr>
          <p:nvPr>
            <p:ph idx="1"/>
          </p:nvPr>
        </p:nvSpPr>
        <p:spPr/>
        <p:txBody>
          <a:bodyPr/>
          <a:lstStyle/>
          <a:p>
            <a:r>
              <a:t>A* selects the node with the lowest value of f(n) = g(n) + h(n)</a:t>
            </a:r>
          </a:p>
          <a:p>
            <a:pPr/>
            <a:r>
              <a:t>g(n) is the cost already paid to reach the node</a:t>
            </a:r>
          </a:p>
          <a:p>
            <a:pPr/>
            <a:r>
              <a:t>h(n) is the estimated cost of reaching the goal from the node</a:t>
            </a:r>
          </a:p>
          <a:p>
            <a:pPr/>
            <a:r>
              <a:t>An admissible heuristic never overestimates the true remaining cost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Uniform Cost Search vs A* Search</a:t>
            </a:r>
          </a:p>
        </p:txBody>
      </p:sp>
      <p:graphicFrame>
        <p:nvGraphicFramePr>
          <p:cNvPr id="3" name="Table 2"/>
          <p:cNvGraphicFramePr>
            <a:graphicFrameLocks noGrp="1"/>
          </p:cNvGraphicFramePr>
          <p:nvPr/>
        </p:nvGraphicFramePr>
        <p:xfrm>
          <a:off x="731520" y="1828800"/>
          <a:ext cx="7772400" cy="2743200"/>
        </p:xfrm>
        <a:graphic>
          <a:graphicData uri="http://schemas.openxmlformats.org/drawingml/2006/table">
            <a:tbl>
              <a:tblPr firstRow="1" bandRow="1">
                <a:tableStyleId>{5C22544A-7EE6-4342-B048-85BDC9FD1C3A}</a:tableStyleId>
              </a:tblPr>
              <a:tblGrid>
                <a:gridCol w="2590800"/>
                <a:gridCol w="2590800"/>
                <a:gridCol w="2590800"/>
              </a:tblGrid>
              <a:tr h="685800">
                <a:tc>
                  <a:txBody>
                    <a:bodyPr/>
                    <a:lstStyle/>
                    <a:p>
                      <a:r>
                        <a:t>Criterion</a:t>
                      </a:r>
                    </a:p>
                  </a:txBody>
                  <a:tcPr/>
                </a:tc>
                <a:tc>
                  <a:txBody>
                    <a:bodyPr/>
                    <a:lstStyle/>
                    <a:p>
                      <a:r>
                        <a:t>UCS</a:t>
                      </a:r>
                    </a:p>
                  </a:txBody>
                  <a:tcPr/>
                </a:tc>
                <a:tc>
                  <a:txBody>
                    <a:bodyPr/>
                    <a:lstStyle/>
                    <a:p>
                      <a:r>
                        <a:t>A*</a:t>
                      </a:r>
                    </a:p>
                  </a:txBody>
                  <a:tcPr/>
                </a:tc>
              </a:tr>
              <a:tr h="685800">
                <a:tc>
                  <a:txBody>
                    <a:bodyPr/>
                    <a:lstStyle/>
                    <a:p>
                      <a:r>
                        <a:t>Uses heuristic</a:t>
                      </a:r>
                    </a:p>
                  </a:txBody>
                  <a:tcPr/>
                </a:tc>
                <a:tc>
                  <a:txBody>
                    <a:bodyPr/>
                    <a:lstStyle/>
                    <a:p>
                      <a:r>
                        <a:t>No</a:t>
                      </a:r>
                    </a:p>
                  </a:txBody>
                  <a:tcPr/>
                </a:tc>
                <a:tc>
                  <a:txBody>
                    <a:bodyPr/>
                    <a:lstStyle/>
                    <a:p>
                      <a:r>
                        <a:t>Yes</a:t>
                      </a:r>
                    </a:p>
                  </a:txBody>
                  <a:tcPr/>
                </a:tc>
              </a:tr>
              <a:tr h="685800">
                <a:tc>
                  <a:txBody>
                    <a:bodyPr/>
                    <a:lstStyle/>
                    <a:p>
                      <a:r>
                        <a:t>Optimal path</a:t>
                      </a:r>
                    </a:p>
                  </a:txBody>
                  <a:tcPr/>
                </a:tc>
                <a:tc>
                  <a:txBody>
                    <a:bodyPr/>
                    <a:lstStyle/>
                    <a:p>
                      <a:r>
                        <a:t>Yes</a:t>
                      </a:r>
                    </a:p>
                  </a:txBody>
                  <a:tcPr/>
                </a:tc>
                <a:tc>
                  <a:txBody>
                    <a:bodyPr/>
                    <a:lstStyle/>
                    <a:p>
                      <a:r>
                        <a:t>Yes</a:t>
                      </a:r>
                    </a:p>
                  </a:txBody>
                  <a:tcPr/>
                </a:tc>
              </a:tr>
              <a:tr h="685800">
                <a:tc>
                  <a:txBody>
                    <a:bodyPr/>
                    <a:lstStyle/>
                    <a:p>
                      <a:r>
                        <a:t>Nodes expanded</a:t>
                      </a:r>
                    </a:p>
                  </a:txBody>
                  <a:tcPr/>
                </a:tc>
                <a:tc>
                  <a:txBody>
                    <a:bodyPr/>
                    <a:lstStyle/>
                    <a:p>
                      <a:r>
                        <a:t>Many</a:t>
                      </a:r>
                    </a:p>
                  </a:txBody>
                  <a:tcPr/>
                </a:tc>
                <a:tc>
                  <a:txBody>
                    <a:bodyPr/>
                    <a:lstStyle/>
                    <a:p>
                      <a:r>
                        <a:t>Few</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Complete History of Search Algorithms</a:t>
            </a:r>
          </a:p>
        </p:txBody>
      </p:sp>
      <p:sp>
        <p:nvSpPr>
          <p:cNvPr id="3" name="Content Placeholder 2"/>
          <p:cNvSpPr>
            <a:spLocks noGrp="1"/>
          </p:cNvSpPr>
          <p:nvPr>
            <p:ph idx="1"/>
          </p:nvPr>
        </p:nvSpPr>
        <p:spPr/>
        <p:txBody>
          <a:bodyPr/>
          <a:lstStyle/>
          <a:p>
            <a:r>
              <a:rPr sz="1100"/>
              <a:t>Search algorithms form the foundation of artificial intelligence and have been studied for more than sixty years across many different disciplines including computer science, operations research, robotics and control systems, and every one of them tries to answer the same fundamental question about how to explore a state space efficiently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Limitations of A* Search</a:t>
            </a:r>
          </a:p>
        </p:txBody>
      </p:sp>
      <p:sp>
        <p:nvSpPr>
          <p:cNvPr id="3" name="Content Placeholder 2"/>
          <p:cNvSpPr>
            <a:spLocks noGrp="1"/>
          </p:cNvSpPr>
          <p:nvPr>
            <p:ph idx="1"/>
          </p:nvPr>
        </p:nvSpPr>
        <p:spPr/>
        <p:txBody>
          <a:bodyPr/>
          <a:lstStyle/>
          <a:p>
            <a:r>
              <a:t>A* needs an admissible heuristic for every state in the space</a:t>
            </a:r>
          </a:p>
          <a:p>
            <a:pPr/>
            <a:r>
              <a:t>Memory usage grows quickly because the open list keeps every node</a:t>
            </a:r>
          </a:p>
          <a:p>
            <a:pPr/>
            <a:r>
              <a:t>Weak heuristics degrade A* towards uniform cost search behaviour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Heuristic search converts an exponential problem into a practical one</a:t>
            </a:r>
          </a:p>
          <a:p>
            <a:pPr/>
            <a:r>
              <a:t>A* remains optimal whenever the heuristic is admissible</a:t>
            </a:r>
          </a:p>
          <a:p>
            <a:pPr/>
            <a:r>
              <a:t>The quality of the heuristic decides how much work A* actually does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